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Introduces the transition to the mobile-first SIMS DMS (Discipline Management System) at SIMS College of Pharmacy.</a:t>
            </a:r>
          </a:p>
          <a:p/>
          <a:p>
            <a:r>
              <a:t>Key points to cover:</a:t>
            </a:r>
          </a:p>
          <a:p>
            <a:r>
              <a:t>1. Welcome the faculty to the training session.</a:t>
            </a:r>
          </a:p>
          <a:p>
            <a:r>
              <a:t>2. Explain that the main goal of this system is to replace manual paper logs at the gate and WhatsApp group coordinates.</a:t>
            </a:r>
          </a:p>
          <a:p>
            <a:r>
              <a:t>3. Emphasize that it works directly from any browser on their mobile phone, and uses Telegram for login OTPs and notifications.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Contrast the old process with the new workflow.</a:t>
            </a:r>
          </a:p>
          <a:p/>
          <a:p>
            <a:r>
              <a:t>Key points:</a:t>
            </a:r>
          </a:p>
          <a:p>
            <a:r>
              <a:t>1. Mention the friction in the past manual system (lost registers, undocumented duty switches, manual billing mistakes).</a:t>
            </a:r>
          </a:p>
          <a:p>
            <a:r>
              <a:t>2. Detail how DMS automates checking in/out, reassignments (swaps), and violation recording.</a:t>
            </a:r>
          </a:p>
          <a:p>
            <a:r>
              <a:t>3. Emphasize that the Telegram Bot acts as an active assistant rather than forcing faculty to constantly log in to check for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Describe how to get into the app and get oriented.</a:t>
            </a:r>
          </a:p>
          <a:p/>
          <a:p>
            <a:r>
              <a:t>Key points:</a:t>
            </a:r>
          </a:p>
          <a:p>
            <a:r>
              <a:t>1. Confirm that password resets and credential locks are a thing of the past. Login requires only email and a code delivered via Telegram.</a:t>
            </a:r>
          </a:p>
          <a:p>
            <a:r>
              <a:t>2. Explain the prerequisite: The Telegram account must be linked. Admins send a direct setup link or users can start the bot (`/start invite_token`).</a:t>
            </a:r>
          </a:p>
          <a:p>
            <a:r>
              <a:t>3. Walk through the bottom tabs. Reiterate that the app acts as a Mobile PWA, meaning they can add it to their home screen for easy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Walk through the core daily routine of checking in and out.</a:t>
            </a:r>
          </a:p>
          <a:p/>
          <a:p>
            <a:r>
              <a:t>Key points:</a:t>
            </a:r>
          </a:p>
          <a:p>
            <a:r>
              <a:t>1. Stress that checking in is mandatory. It verifies physical presence on campus for disciplinary audits.</a:t>
            </a:r>
          </a:p>
          <a:p>
            <a:r>
              <a:t>2. Explain that the app uses background geo-validation or simply relies on honest timestamp reporting.</a:t>
            </a:r>
          </a:p>
          <a:p>
            <a:r>
              <a:t>3. Highlight the auto clock-out feature. While it prevents cards from staying open indefinitely, having too many 'Auto' checks on record reflects poorly on the faculty attendance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Explain how scheduling works.</a:t>
            </a:r>
          </a:p>
          <a:p/>
          <a:p>
            <a:r>
              <a:t>Key points:</a:t>
            </a:r>
          </a:p>
          <a:p>
            <a:r>
              <a:t>1. The admin will announce when the monthly scheduling window opens (via Telegram broadcast).</a:t>
            </a:r>
          </a:p>
          <a:p>
            <a:r>
              <a:t>2. Demonstrate the visual calendar in the app: blue for slots that need volunteers, green for dates already selected, grey for holidays or locked dates.</a:t>
            </a:r>
          </a:p>
          <a:p>
            <a:r>
              <a:t>3. Emphasize that picking early gives them their preferred dates. Once the window closes, admins manually assign remaining slots.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Describe how to register disciplinary violations.</a:t>
            </a:r>
          </a:p>
          <a:p/>
          <a:p>
            <a:r>
              <a:t>Key points:</a:t>
            </a:r>
          </a:p>
          <a:p>
            <a:r>
              <a:t>1. Clarify that the system requires check-in to avoid ad-hoc reports outside duty hours.</a:t>
            </a:r>
          </a:p>
          <a:p>
            <a:r>
              <a:t>2. Explain that the list of students is dynamically fetched from the database, updated regularly via administrative Excel uploads.</a:t>
            </a:r>
          </a:p>
          <a:p>
            <a:r>
              <a:t>3. Highlight that fines are strictly preset by systemic policy, removing arguments or discrepancies about how much to fine a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Walk through duty reassignment.</a:t>
            </a:r>
          </a:p>
          <a:p/>
          <a:p>
            <a:r>
              <a:t>Key points:</a:t>
            </a:r>
          </a:p>
          <a:p>
            <a:r>
              <a:t>1. Faculty swaps are regular occurrences. The app handles this digitally to avoid manual coordinator overrides.</a:t>
            </a:r>
          </a:p>
          <a:p>
            <a:r>
              <a:t>2. Highlight that the colleague must be chosen from the active eligibility list (the app handles schedule exclusions automatically).</a:t>
            </a:r>
          </a:p>
          <a:p>
            <a:r>
              <a:t>3. Emphasize the accountability rule: they cannot simply abandon a slot; they must ensure the swap is confirmed and accepted.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Describe what happens when a swap request is received.</a:t>
            </a:r>
          </a:p>
          <a:p/>
          <a:p>
            <a:r>
              <a:t>Key points:</a:t>
            </a:r>
          </a:p>
          <a:p>
            <a:r>
              <a:t>1. Highlight how convenient it is to click 'Accept' or 'Decline' directly inside Telegram chat without needing to log in to the web browser.</a:t>
            </a:r>
          </a:p>
          <a:p>
            <a:r>
              <a:t>2. Advise them to respond promptly so colleagues have time to search for other options if declined.</a:t>
            </a:r>
          </a:p>
          <a:p>
            <a:r>
              <a:t>3. Mention that once accepted, the scheduling system sends a confirmation notification to both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Introduce self-management and audits.</a:t>
            </a:r>
          </a:p>
          <a:p/>
          <a:p>
            <a:r>
              <a:t>Key points:</a:t>
            </a:r>
          </a:p>
          <a:p>
            <a:r>
              <a:t>1. The Attendance and Violations tabs give faculty full transparency over what they have logged.</a:t>
            </a:r>
          </a:p>
          <a:p>
            <a:r>
              <a:t>2. Emphasize that mistakes happen. The system allows faculty to delete or edit records directly before audits, preserving database clean states.</a:t>
            </a:r>
          </a:p>
          <a:p>
            <a:r>
              <a:t>3. Explain the difference: Delete removes it immediately, while Flag keeps the record in the view but highlights it in red on the Admin panel for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Outline bot actions and system support.</a:t>
            </a:r>
          </a:p>
          <a:p/>
          <a:p>
            <a:r>
              <a:t>Key points:</a:t>
            </a:r>
          </a:p>
          <a:p>
            <a:r>
              <a:t>1. Reinforce that Telegram is the primary alert mechanism. Advise them not to mute the bot during semesters.</a:t>
            </a:r>
          </a:p>
          <a:p>
            <a:r>
              <a:t>2. Introduce the '/menu' feature for quick checks on dates without opening a browser.</a:t>
            </a:r>
          </a:p>
          <a:p>
            <a:r>
              <a:t>3. Provide support guidelines. Clarify that while the app runs autonomously, admins hold full capability to reset user logins and manual overrides.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Concluding slide.</a:t>
            </a:r>
          </a:p>
          <a:p/>
          <a:p>
            <a:r>
              <a:t>Key points:</a:t>
            </a:r>
          </a:p>
          <a:p>
            <a:r>
              <a:t>1. Summarize the three pillars: logging in, logging attendance, and request reassignments.</a:t>
            </a:r>
          </a:p>
          <a:p>
            <a:r>
              <a:t>2. Hand out the printed one-page cheat sheet compiled from this slide deck.</a:t>
            </a:r>
          </a:p>
          <a:p>
            <a:r>
              <a:t>3. Thank the faculty for their cooperation and open the floor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SIMS COLLEGE OF PHARMACY · DISCIPLINE MANAGEMENT</a:t>
            </a:r>
          </a:p>
          <a:p>
            <a:pPr>
              <a:spcAft>
                <a:spcPts val="2000"/>
              </a:spcAft>
              <a:defRPr sz="5400" b="1">
                <a:solidFill>
                  <a:srgbClr val="FFFFFF"/>
                </a:solidFill>
                <a:latin typeface="Arial"/>
              </a:defRPr>
            </a:pPr>
            <a:r>
              <a:t>Your Discipline Duty,</a:t>
            </a:r>
            <a:br/>
            <a:r>
              <a:t>On Your Phone</a:t>
            </a:r>
          </a:p>
          <a:p>
            <a:pPr>
              <a:defRPr sz="1800">
                <a:solidFill>
                  <a:srgbClr val="64748B"/>
                </a:solidFill>
                <a:latin typeface="Arial"/>
              </a:defRPr>
            </a:pPr>
            <a:r>
              <a:t>A quick, hands-on faculty guide to using the SIMS DMS PWA application.</a:t>
            </a:r>
            <a:br/>
            <a:r>
              <a:t>No paper files. No chasing updates. All in one place.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754880"/>
            <a:ext cx="201168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📲 Works on Mobile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4754880"/>
            <a:ext cx="201168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✈️ OTP via Telegram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4754880"/>
            <a:ext cx="201168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⏱️ 5 Core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THE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Why We're Moving to SIMS DMS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 rIns="365760"/>
          <a:lstStyle/>
          <a:p>
            <a:pPr algn="ctr">
              <a:spcAft>
                <a:spcPts val="1400"/>
              </a:spcAft>
              <a:defRPr sz="1400" b="1">
                <a:solidFill>
                  <a:srgbClr val="EF4444"/>
                </a:solidFill>
                <a:latin typeface="Arial"/>
              </a:defRPr>
            </a:pPr>
            <a:r>
              <a:t>BEFORE (Manual System)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❌ Paper register at the gate (hard to sign, verify, and track).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❌ Duty coverage / swaps arranged over chaotic phone calls and WhatsApp.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❌ Student violations noted in books (no shared status with the office).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❌ 'Were you on duty?' disputes due to lack of tamper-proof logs.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029200" cy="4389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 rIns="365760"/>
          <a:lstStyle/>
          <a:p>
            <a:pPr algn="ctr">
              <a:spcAft>
                <a:spcPts val="1400"/>
              </a:spcAft>
              <a:defRPr sz="1400" b="1">
                <a:solidFill>
                  <a:srgbClr val="2563EB"/>
                </a:solidFill>
                <a:latin typeface="Arial"/>
              </a:defRPr>
            </a:pPr>
            <a:r>
              <a:t>WITH SIMS DMS (Digital System)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✅ Clean, automated check-in and check-out timestamped in the app.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✅ Official swaps sent and accepted in 2 taps with full digital tracking.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✅ Fines auto-calculated by system settings and saved instantly.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✅ Proactive Telegram bot notifications for schedules and reminders.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Signing In &amp; Navigating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How to log in: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1. Open the app link on your browser: input your registered email address.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2. Click 'Request OTP'. The system will generate a secure, 6-digit code.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3. Check your Telegram app. The official SIMS DMS Bot will deliver the code.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4. Enter the code in the app to authenticate. No passwords to memorize!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5. If you haven't linked Telegram yet, use the activation link sent by your admin.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594360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defRPr sz="1100">
                <a:solidFill>
                  <a:srgbClr val="92400E"/>
                </a:solidFill>
                <a:latin typeface="Arial"/>
              </a:defRPr>
            </a:pPr>
            <a:r>
              <a:t>💡 NOTE: The login session is secure and cached. You will only need to re-authenticate with an OTP after logouts or when cookies expire.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0F172A"/>
                </a:solidFill>
                <a:latin typeface="Arial"/>
              </a:defRPr>
            </a:pPr>
            <a:r>
              <a:t>THE FIVE BOTTOM TABS: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🏠 Dashboard: Check-ins, today's schedule, alerts.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📅 Slots: Interactive calendar to pick monthly slots.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✅ Attendance: Personal check-in logs and status summary.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⚠️ Violations: List of student infractions you recorded.</a:t>
            </a:r>
          </a:p>
          <a:p>
            <a:pPr>
              <a:spcAft>
                <a:spcPts val="12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✉️ Messages: Official administrative announcements.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DAILY ROUTINE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Task 1: Checking In &amp; Out of Duty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How it works on duty days: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1. Open the app on the Dashboard. Today's assigned duty will show as a blue 'Today's Duty' card at the top.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2. When you arrive at your designated gate or duty area, tap the 'Check In' button.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3. When your shift ends and you are leaving, open the app again and tap 'Check Out'.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4. If you have multiple sessions on the same day (e.g., Morning and Afternoon), each session has its own card. Check in/out for each session separately.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572000"/>
            <a:ext cx="594360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defRPr sz="1100">
                <a:solidFill>
                  <a:srgbClr val="991B1B"/>
                </a:solidFill>
                <a:latin typeface="Arial"/>
              </a:defRPr>
            </a:pPr>
            <a:r>
              <a:t>⚠️ Auto-checkout warning:</a:t>
            </a:r>
            <a:br/>
            <a:r>
              <a:t>If you forget to check out, the system will automatically check you out at the cutoff hour. This logs as 'Auto' in your attendance and triggers a warning report for the admin. Please check out manually!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29260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600"/>
              </a:spcAft>
              <a:defRPr sz="1100" b="1">
                <a:solidFill>
                  <a:srgbClr val="BFDBFE"/>
                </a:solidFill>
                <a:latin typeface="Arial"/>
              </a:defRPr>
            </a:pPr>
            <a:r>
              <a:t>📋 TODAY'S DUTY</a:t>
            </a:r>
          </a:p>
          <a:p>
            <a:pPr>
              <a:spcAft>
                <a:spcPts val="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Morning Session</a:t>
            </a:r>
          </a:p>
          <a:p>
            <a:pPr>
              <a:spcAft>
                <a:spcPts val="1800"/>
              </a:spcAft>
              <a:defRPr sz="1300">
                <a:solidFill>
                  <a:srgbClr val="DBEAFE"/>
                </a:solidFill>
                <a:latin typeface="Arial"/>
              </a:defRPr>
            </a:pPr>
            <a:r>
              <a:t>Starts 8:00 AM · Not Checked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3474720"/>
            <a:ext cx="35661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t>Tap to Check 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START OF THE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Task 2: Picking Your Monthly Slots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How to select your dates: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1. Go to the 'Slots' tab. A green banner will display indicating that the scheduling window is open.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2. The calendar will highlight dates. A blue dot indicates that duty slots are still available for selection.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3. Tap on your desired date. A selection drawer will slide up from the bottom.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4. Choose 'Pick Morning' or 'Pick Afternoon'. Once confirmed, the date turns green.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5. Repeat this process until you meet your required session target count for the month (typically 3 slots).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594360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defRPr sz="1100">
                <a:solidFill>
                  <a:srgbClr val="2563EB"/>
                </a:solidFill>
                <a:latin typeface="Arial"/>
              </a:defRPr>
            </a:pPr>
            <a:r>
              <a:t>💡 Did you make a mistake?</a:t>
            </a:r>
            <a:br/>
            <a:r>
              <a:t>Once a slot is picked, you cannot drop it directly in the app. You must request a swap with a colleague (Task 4) or contact an Admin to clear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2000"/>
              </a:spcAft>
              <a:defRPr sz="1200" b="1">
                <a:solidFill>
                  <a:srgbClr val="64748B"/>
                </a:solidFill>
                <a:latin typeface="Arial"/>
              </a:defRPr>
            </a:pPr>
            <a:r>
              <a:t>SLOT PICKER CALENDAR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2286000"/>
            <a:ext cx="64008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286000"/>
            <a:ext cx="64008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2286000"/>
            <a:ext cx="64008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0" y="2286000"/>
            <a:ext cx="640080" cy="640080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41280" y="2286000"/>
            <a:ext cx="64008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0" y="2286000"/>
            <a:ext cx="64008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704320" y="2286000"/>
            <a:ext cx="64008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017520"/>
            <a:ext cx="64008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017520"/>
            <a:ext cx="64008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3017520"/>
            <a:ext cx="64008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3017520"/>
            <a:ext cx="64008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3017520"/>
            <a:ext cx="64008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0" y="3017520"/>
            <a:ext cx="64008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704320" y="3017520"/>
            <a:ext cx="640080" cy="64008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4748B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931920"/>
            <a:ext cx="39319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Pick Morning Session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CAMPUS DISCIPLINE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Task 3: Logging Student Violations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Step-by-step violation recording: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1. Active Duty Required: You must be checked in to record a student violation. The system verifies this state automatically.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2. Start Form: Tap 'Record Student Violation' on your Dashboard.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3. Select Student: Type the name or registration number. The database will auto-suggest matching records.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4. Choose Violation: Pick from the list (e.g., 'Late to Assembly', 'Dress Code'). The preconfigured fine amount will load.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5. Save Details: Set to 'Warning Only' if appropriate, add relevant notes, and tap 'Save Violation'.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594360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09728" rIns="109728"/>
          <a:lstStyle/>
          <a:p>
            <a:pPr algn="ctr">
              <a:defRPr sz="1050">
                <a:solidFill>
                  <a:srgbClr val="065F46"/>
                </a:solidFill>
                <a:latin typeface="Arial"/>
              </a:defRPr>
            </a:pPr>
            <a:r>
              <a:t>💡 Quick-add mode:</a:t>
            </a:r>
            <a:br/>
            <a:r>
              <a:t>Logging a group? Enable 'Quick-Add Mode'. The screen will stay open and preserve your selected violation type, letting you search and log multiple students in quick succession.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400"/>
              </a:spcAft>
              <a:defRPr sz="1200" b="1">
                <a:solidFill>
                  <a:srgbClr val="64748B"/>
                </a:solidFill>
                <a:latin typeface="Arial"/>
              </a:defRPr>
            </a:pPr>
            <a:r>
              <a:t>RECORD STUDENT VIOLATION</a:t>
            </a:r>
          </a:p>
          <a:p>
            <a:pPr>
              <a:spcAft>
                <a:spcPts val="200"/>
              </a:spcAft>
              <a:defRPr sz="950" b="1">
                <a:solidFill>
                  <a:srgbClr val="64748B"/>
                </a:solidFill>
                <a:latin typeface="Courier New"/>
              </a:defRPr>
            </a:pPr>
            <a:r>
              <a:t>STUDENT SEARCH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Aarav Menon — 21PH045</a:t>
            </a:r>
          </a:p>
          <a:p>
            <a:pPr>
              <a:spcAft>
                <a:spcPts val="200"/>
              </a:spcAft>
              <a:defRPr sz="950" b="1">
                <a:solidFill>
                  <a:srgbClr val="64748B"/>
                </a:solidFill>
                <a:latin typeface="Courier New"/>
              </a:defRPr>
            </a:pPr>
            <a:r>
              <a:t>VIOLATION TYPE</a:t>
            </a:r>
          </a:p>
          <a:p>
            <a:pPr>
              <a:spcAft>
                <a:spcPts val="1200"/>
              </a:spcAft>
              <a:defRPr sz="1300" b="1">
                <a:solidFill>
                  <a:srgbClr val="1E293B"/>
                </a:solidFill>
                <a:latin typeface="Arial"/>
              </a:defRPr>
            </a:pPr>
            <a:r>
              <a:t>Late to assembly area (₹50 fine)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389120"/>
            <a:ext cx="356616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Log Violation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SCHEDULE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Task 4: Swapping Duties / Reassignment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When you cannot attend an assigned duty:</a:t>
            </a:r>
          </a:p>
          <a:p>
            <a:pPr>
              <a:spcAft>
                <a:spcPts val="11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1. Open the Dashboard and find the list under 'Upcoming Duties'.</a:t>
            </a:r>
          </a:p>
          <a:p>
            <a:pPr>
              <a:spcAft>
                <a:spcPts val="11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2. Tap the '🔄 Request Reassignment' button next to the relevant slot.</a:t>
            </a:r>
          </a:p>
          <a:p>
            <a:pPr>
              <a:spcAft>
                <a:spcPts val="11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3. Select a Colleague: Pick an eligible faculty member from the dropdown list. (Only active faculty members are shown).</a:t>
            </a:r>
          </a:p>
          <a:p>
            <a:pPr>
              <a:spcAft>
                <a:spcPts val="11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4. Provide a Reason: Input a brief explanation (e.g., 'Health issue', 'Exam duty') so your colleague understands.</a:t>
            </a:r>
          </a:p>
          <a:p>
            <a:pPr>
              <a:spcAft>
                <a:spcPts val="11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5. Tap 'Send Request'. The duty stays pending in your upcoming list.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5943600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09728" rIns="109728"/>
          <a:lstStyle/>
          <a:p>
            <a:pPr algn="ctr">
              <a:defRPr sz="1100" b="1">
                <a:solidFill>
                  <a:srgbClr val="92400E"/>
                </a:solidFill>
                <a:latin typeface="Arial"/>
              </a:defRPr>
            </a:pPr>
            <a:r>
              <a:t>⚠️ Crucial rule:</a:t>
            </a:r>
            <a:br/>
            <a:r>
              <a:t>The duty is NOT transferred until your colleague explicitly accepts your request. Until they click 'Accept', you are still officially responsible for that duty slot.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400"/>
              </a:spcAft>
              <a:defRPr sz="1200" b="1">
                <a:solidFill>
                  <a:srgbClr val="64748B"/>
                </a:solidFill>
                <a:latin typeface="Arial"/>
              </a:defRPr>
            </a:pPr>
            <a:r>
              <a:t>REQUEST REASSIGNMENT</a:t>
            </a:r>
          </a:p>
          <a:p>
            <a:pPr>
              <a:spcAft>
                <a:spcPts val="200"/>
              </a:spcAft>
              <a:defRPr sz="950" b="1">
                <a:solidFill>
                  <a:srgbClr val="64748B"/>
                </a:solidFill>
                <a:latin typeface="Courier New"/>
              </a:defRPr>
            </a:pPr>
            <a:r>
              <a:t>DUTY SLOT TO TRANSFER</a:t>
            </a:r>
          </a:p>
          <a:p>
            <a:pPr>
              <a:spcAft>
                <a:spcPts val="10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Saturday, 15 March · Afternoon</a:t>
            </a:r>
          </a:p>
          <a:p>
            <a:pPr>
              <a:spcAft>
                <a:spcPts val="200"/>
              </a:spcAft>
              <a:defRPr sz="950" b="1">
                <a:solidFill>
                  <a:srgbClr val="64748B"/>
                </a:solidFill>
                <a:latin typeface="Courier New"/>
              </a:defRPr>
            </a:pPr>
            <a:r>
              <a:t>SELECT COLLEAGUE</a:t>
            </a:r>
          </a:p>
          <a:p>
            <a:pPr>
              <a:spcAft>
                <a:spcPts val="10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Dr. R. Nair (Department of Pharmacology)</a:t>
            </a:r>
          </a:p>
          <a:p>
            <a:pPr>
              <a:spcAft>
                <a:spcPts val="200"/>
              </a:spcAft>
              <a:defRPr sz="950" b="1">
                <a:solidFill>
                  <a:srgbClr val="64748B"/>
                </a:solidFill>
                <a:latin typeface="Courier New"/>
              </a:defRPr>
            </a:pPr>
            <a:r>
              <a:t>REASON FOR REQUEST</a:t>
            </a:r>
          </a:p>
          <a:p>
            <a:pPr>
              <a:spcAft>
                <a:spcPts val="1000"/>
              </a:spcAft>
              <a:defRPr sz="1250" b="1">
                <a:solidFill>
                  <a:srgbClr val="1E293B"/>
                </a:solidFill>
                <a:latin typeface="Arial"/>
              </a:defRPr>
            </a:pPr>
            <a:r>
              <a:t>Attending university seminar.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480560"/>
            <a:ext cx="356616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Send Swap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INCOMING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Task 5: Answering Cover Swap Requests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When a colleague asks you to cover: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1. You will receive an instant notification directly in your Telegram chat.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2. Open the app. Incoming requests will be listed near the top of the Dashboard under 'Reassignment Requests'.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3. Check Details: Review the date, session type, requesting colleague name, and their provided reason.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4. Accept: Tap the green 'Accept' button to take over the duty. The slot instantly moves to your schedule.</a:t>
            </a:r>
          </a:p>
          <a:p>
            <a:pPr>
              <a:spcAft>
                <a:spcPts val="12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5. Decline: Tap 'Reject' if you cannot make it. The duty remains with the original requester.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594360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09728" rIns="109728"/>
          <a:lstStyle/>
          <a:p>
            <a:pPr algn="ctr">
              <a:defRPr sz="1100">
                <a:solidFill>
                  <a:srgbClr val="2563EB"/>
                </a:solidFill>
                <a:latin typeface="Arial"/>
              </a:defRPr>
            </a:pPr>
            <a:r>
              <a:t>⚡ Telegram Shortcuts:</a:t>
            </a:r>
            <a:br/>
            <a:r>
              <a:t>You do not even need to open the app! The Telegram bot notification contains interactive 'Accept' and 'Decline' buttons. Tapping those handles the swap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400"/>
              </a:spcAft>
              <a:defRPr sz="1000" b="1">
                <a:solidFill>
                  <a:srgbClr val="93C5FD"/>
                </a:solidFill>
                <a:latin typeface="Courier New"/>
              </a:defRPr>
            </a:pPr>
            <a:r>
              <a:t>💬 TELEGRAM BOT NOTIFICATION</a:t>
            </a:r>
          </a:p>
          <a:p>
            <a:pPr>
              <a:spcAft>
                <a:spcPts val="20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t>🔄 Cover Request from Priya S.:</a:t>
            </a:r>
            <a:br/>
            <a:br/>
            <a:r>
              <a:t>- Date: Saturday, 15 March</a:t>
            </a:r>
            <a:br/>
            <a:r>
              <a:t>- Session: Afternoon (1:00 PM)</a:t>
            </a:r>
            <a:br/>
            <a:r>
              <a:t>- Reason: Personal commitment.</a:t>
            </a:r>
            <a:br/>
            <a:br/>
            <a:r>
              <a:t>Would you like to accept this shift?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4389120"/>
            <a:ext cx="173736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Accept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4389120"/>
            <a:ext cx="173736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Arial"/>
              </a:defRPr>
            </a:pPr>
            <a:r>
              <a:t>Decline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SELF-MANAGEMENT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Track Your Record &amp; Fix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Managing your history: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1. Attendance Summary: Open the 'Attendance' tab to view a monthly summary of your check-in statistics, including late arrivals and missed checkouts.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2. Logged Violations: Open the 'Violations' tab to see every student record you have created, categorized by date and status.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3. Correcting Mistakes: If you log a student by mistake, you can tap the 'Delete' button directly on that violation card.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4. Flagging for Admin: If you are unsure of a record (e.g., student disputes a fine), tap 'Flag for Review'. This marks the violation and submits a alert to the Admin dashboard.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663440"/>
            <a:ext cx="594360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bIns="109728" lIns="109728" rIns="109728"/>
          <a:lstStyle/>
          <a:p>
            <a:pPr algn="ctr">
              <a:defRPr sz="1050">
                <a:solidFill>
                  <a:srgbClr val="991B1B"/>
                </a:solidFill>
                <a:latin typeface="Arial"/>
              </a:defRPr>
            </a:pPr>
            <a:r>
              <a:t>⚠️ Delete constraints:</a:t>
            </a:r>
            <a:br/>
            <a:r>
              <a:t>Violations can only be deleted by the recording faculty while they are 'active'. Once an admin reviews and locks the report, edits or deletes require administrator override.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2000"/>
              </a:spcAft>
              <a:defRPr sz="1200" b="1">
                <a:solidFill>
                  <a:srgbClr val="64748B"/>
                </a:solidFill>
                <a:latin typeface="Arial"/>
              </a:defRPr>
            </a:pPr>
            <a:r>
              <a:t>MY ATTENDANCE SUMMARY</a:t>
            </a:r>
          </a:p>
          <a:p>
            <a:pPr>
              <a:spcAft>
                <a:spcPts val="16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• On-Time Check Ins: </a:t>
            </a:r>
            <a:r>
              <a:rPr b="1">
                <a:solidFill>
                  <a:srgbClr val="10B981"/>
                </a:solidFill>
              </a:rPr>
              <a:t>8 sessions</a:t>
            </a:r>
          </a:p>
          <a:p>
            <a:pPr>
              <a:spcAft>
                <a:spcPts val="16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• Late Arrivals: </a:t>
            </a:r>
            <a:r>
              <a:rPr b="1">
                <a:solidFill>
                  <a:srgbClr val="F59E0B"/>
                </a:solidFill>
              </a:rPr>
              <a:t>1 session</a:t>
            </a:r>
          </a:p>
          <a:p>
            <a:pPr>
              <a:spcAft>
                <a:spcPts val="1600"/>
              </a:spcAft>
              <a:defRPr sz="1350">
                <a:solidFill>
                  <a:srgbClr val="1E293B"/>
                </a:solidFill>
                <a:latin typeface="Arial"/>
              </a:defRPr>
            </a:pPr>
            <a:r>
              <a:t>• Forgot Check Out (Auto): </a:t>
            </a:r>
            <a:r>
              <a:rPr b="1">
                <a:solidFill>
                  <a:srgbClr val="EF4444"/>
                </a:solidFill>
              </a:rPr>
              <a:t>2 sessions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SUPPORT &amp; COMMUNICATIONS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Telegram Reminders &amp; Getting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How Telegram Bot assists you: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Duty Reminder: Sent 30 minutes before your scheduled morning or afternoon session starts.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Clock-out Reminder: Placed 15 minutes before the session cutoff hour so you check out manually.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Swap Alerts: Delivers cover swap notifications with instant action buttons.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  <a:latin typeface="Arial"/>
              </a:defRPr>
            </a:pPr>
            <a:r>
              <a:t>• Command Shortcuts: Message '/menu' to check your active slots, next duty date, and window status dynamically.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297680"/>
            <a:ext cx="5943600" cy="1463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bIns="137160" lIns="137160" rIns="137160"/>
          <a:lstStyle/>
          <a:p>
            <a:pPr algn="ctr">
              <a:defRPr sz="1100" b="1">
                <a:solidFill>
                  <a:srgbClr val="92400E"/>
                </a:solidFill>
                <a:latin typeface="Arial"/>
              </a:defRPr>
            </a:pPr>
            <a:r>
              <a:t>🆘 NEED TECHNICAL SUPPORT?</a:t>
            </a:r>
            <a:br/>
            <a:r>
              <a:t>If you experience any of the following, contact your Admin immediately:</a:t>
            </a:r>
            <a:br/>
            <a:r>
              <a:t>1. Your OTP code does not arrive in Telegram.</a:t>
            </a:r>
            <a:br/>
            <a:r>
              <a:t>2. You are locked out due to multiple failed OTP login attempts.</a:t>
            </a:r>
            <a:br/>
            <a:r>
              <a:t>3. You need to drop a picked slot after the schedule window has locked.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645920"/>
            <a:ext cx="4297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/>
          <a:lstStyle/>
          <a:p>
            <a:pPr algn="ctr">
              <a:spcAft>
                <a:spcPts val="1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📋 TELEGRAM SHORTCUTS (/menu)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2468880"/>
            <a:ext cx="356616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📋 My Duty Slots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3063240"/>
            <a:ext cx="356616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⏭️ Next Duty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657600"/>
            <a:ext cx="3566160" cy="43891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293B"/>
                </a:solidFill>
                <a:latin typeface="Arial"/>
              </a:defRPr>
            </a:pPr>
            <a:r>
              <a:t>📅 Scheduling Window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SIMS DMS — Faculty Quick Cheat Sheet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Keep this overview on hand during the semester.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3108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600"/>
              </a:spcAft>
              <a:defRPr sz="1300" b="1">
                <a:solidFill>
                  <a:srgbClr val="93C5FD"/>
                </a:solidFill>
                <a:latin typeface="Arial"/>
              </a:defRPr>
            </a:pPr>
            <a:r>
              <a:t>🔑 SIGN IN</a:t>
            </a:r>
          </a:p>
          <a:p>
            <a:pPr>
              <a:spcAft>
                <a:spcPts val="14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1. Enter email in app.</a:t>
            </a:r>
          </a:p>
          <a:p>
            <a:pPr>
              <a:spcAft>
                <a:spcPts val="14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2. Get OTP on Telegram.</a:t>
            </a:r>
          </a:p>
          <a:p>
            <a:pPr>
              <a:spcAft>
                <a:spcPts val="14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3. Authenticate instantly.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011680"/>
            <a:ext cx="3108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600"/>
              </a:spcAft>
              <a:defRPr sz="1300" b="1">
                <a:solidFill>
                  <a:srgbClr val="93C5FD"/>
                </a:solidFill>
                <a:latin typeface="Arial"/>
              </a:defRPr>
            </a:pPr>
            <a:r>
              <a:t>📋 DUTY ROUTINE</a:t>
            </a:r>
          </a:p>
          <a:p>
            <a:pPr>
              <a:spcAft>
                <a:spcPts val="14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1. Check In when arriving.</a:t>
            </a:r>
          </a:p>
          <a:p>
            <a:pPr>
              <a:spcAft>
                <a:spcPts val="14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2. Check Out when leaving.</a:t>
            </a:r>
          </a:p>
          <a:p>
            <a:pPr>
              <a:spcAft>
                <a:spcPts val="14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3. Clock out before auto-checkout.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108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228600" rIns="228600"/>
          <a:lstStyle/>
          <a:p>
            <a:pPr algn="ctr">
              <a:spcAft>
                <a:spcPts val="1600"/>
              </a:spcAft>
              <a:defRPr sz="1300" b="1">
                <a:solidFill>
                  <a:srgbClr val="93C5FD"/>
                </a:solidFill>
                <a:latin typeface="Arial"/>
              </a:defRPr>
            </a:pPr>
            <a:r>
              <a:t>🔄 SWAPPING SLOTS</a:t>
            </a:r>
          </a:p>
          <a:p>
            <a:pPr>
              <a:spcAft>
                <a:spcPts val="14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1. Tap Reassignment request.</a:t>
            </a:r>
          </a:p>
          <a:p>
            <a:pPr>
              <a:spcAft>
                <a:spcPts val="14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2. Select eligible colleague.</a:t>
            </a:r>
          </a:p>
          <a:p>
            <a:pPr>
              <a:spcAft>
                <a:spcPts val="1400"/>
              </a:spcAft>
              <a:defRPr sz="1150">
                <a:solidFill>
                  <a:srgbClr val="FFFFFF"/>
                </a:solidFill>
                <a:latin typeface="Arial"/>
              </a:defRPr>
            </a:pPr>
            <a:r>
              <a:t>3. Pending until they accept.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